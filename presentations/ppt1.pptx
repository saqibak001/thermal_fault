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Inter"/>
      <ns0:bold ns1:id="rIdFont15"/>
      <ns0:regular ns1:id="rIdFont16"/>
    </ns0:embeddedFont>
    <ns0:embeddedFont>
      <ns0:font typeface="Space Grotesk"/>
      <ns0:bold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5222b837-dbfe-4e36-b36e-4ce3cae12f23.fntdata" /><ns0:Relationship Id="rIdFont16" Type="http://schemas.openxmlformats.org/officeDocument/2006/relationships/font" Target="fonts/077f2786-e74e-4e83-83eb-edb570d7b2ab.fntdata" /><ns0:Relationship Id="rIdFont17" Type="http://schemas.openxmlformats.org/officeDocument/2006/relationships/font" Target="fonts/095024e5-8c2a-4956-83cf-8ab3d1bc3c4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84340"/>
            <a:ext cx="10668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706909"/>
            <a:ext cx="3300412" cy="295275"/>
          </a:xfrm>
          <a:prstGeom prst="roundRect">
            <a:avLst>
              <a:gd name="adj" fmla="val 19354"/>
            </a:avLst>
          </a:prstGeom>
          <a:solidFill>
            <a:srgbClr val="3B2424"/>
          </a:solidFill>
          <a:ln w="952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484340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29025" y="4803427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67525" y="4803427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230784"/>
            <a:ext cx="9501187" cy="1095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750" i="0" u="none">
                <a:solidFill>
                  <a:srgbClr val="FFFFFF"/>
                </a:solidFill>
                <a:latin typeface="Space Grotesk"/>
              </a:rPr>
              <a:t>Deep Learning Thermal Fault Detection in Induction Motors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16659"/>
            <a:ext cx="7715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Automated 11-class condition monitoring and thermal hotspot identification on 369 infrared motor images.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764059"/>
            <a:ext cx="312896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97316"/>
                </a:solidFill>
                <a:latin typeface="Inter"/>
              </a:rPr>
              <a:t>INFRARED INSPECTION &amp; EFFICIENTNET-B0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760565"/>
            <a:ext cx="32027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960590"/>
            <a:ext cx="3202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369 Thermal IR Images (11 Classes)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3350" y="4760565"/>
            <a:ext cx="3274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3350" y="4960590"/>
            <a:ext cx="3274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EfficientNetB0 • TensorFlow / Keras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1850" y="4760565"/>
            <a:ext cx="381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1850" y="4960590"/>
            <a:ext cx="381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Confusion Matrix &amp; Classification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00275"/>
            <a:ext cx="5248275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09950"/>
            <a:ext cx="5248275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19625"/>
            <a:ext cx="5248275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200275"/>
            <a:ext cx="38100" cy="10191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409950"/>
            <a:ext cx="38100" cy="10191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619625"/>
            <a:ext cx="38100" cy="1019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1919287"/>
            <a:ext cx="5267325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928812"/>
            <a:ext cx="5248275" cy="398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409825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619500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4829175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Inter"/>
              </a:rPr>
              <a:t>DATASET OVERVIEW &amp; 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Multi-Class Motor Fault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390775"/>
            <a:ext cx="6238279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11 Operating &amp; Fault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2647950"/>
            <a:ext cx="48482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Includes Stator Shorts (A10-A50), 2-Phase/3-Phase Faults, Fan Faults, Noload, and Rotor-0.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600450"/>
            <a:ext cx="6238279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369 Curated Thermal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857625"/>
            <a:ext cx="48482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High-resolution infrared thermal captures across varying load and fault severities.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810125"/>
            <a:ext cx="6238279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Deep Learning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5067300"/>
            <a:ext cx="48482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Eliminates manual thermal image interpretation via pretrained CNN feature representations.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5150"/>
            <a:ext cx="1851719" cy="166687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89944" y="3105150"/>
            <a:ext cx="1851719" cy="166687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70289" y="3105150"/>
            <a:ext cx="1851719" cy="166687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50633" y="3005137"/>
            <a:ext cx="1851719" cy="1866900"/>
          </a:xfrm>
          <a:prstGeom prst="roundRect">
            <a:avLst>
              <a:gd name="adj" fmla="val 72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30978" y="3105150"/>
            <a:ext cx="1851719" cy="166687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44959" y="33813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25304" y="33813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05648" y="33813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5993" y="328136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66337" y="33813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719" y="3843337"/>
            <a:ext cx="1238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064" y="3843337"/>
            <a:ext cx="1238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408" y="3843337"/>
            <a:ext cx="1238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753" y="3843337"/>
            <a:ext cx="1238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WORKFLOW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End-to-End Thermal Intelligence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2084" y="33813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801" y="3876675"/>
            <a:ext cx="190531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Data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66" y="4133850"/>
            <a:ext cx="181458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369 Thermal IR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2429" y="33813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3146" y="3876675"/>
            <a:ext cx="190531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Preprocessing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8510" y="4133850"/>
            <a:ext cx="181458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OpenCV &amp; normalization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2773" y="33813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3490" y="3876675"/>
            <a:ext cx="190531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EfficientNetB0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8855" y="4133850"/>
            <a:ext cx="181458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Transfer feature extractor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3118" y="328136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3835" y="3776662"/>
            <a:ext cx="190531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Training Callbacks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9199" y="4233862"/>
            <a:ext cx="181458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EarlyStop &amp; ReduceLR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23462" y="33813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Inter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4179" y="3876675"/>
            <a:ext cx="190531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9544" y="4133850"/>
            <a:ext cx="181458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Confusion matrix &amp;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7962"/>
            <a:ext cx="347975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747962"/>
            <a:ext cx="347975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747962"/>
            <a:ext cx="347975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90862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09086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825" y="3090862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Inter"/>
              </a:rPr>
              <a:t>MODELING &amp; TRANSFER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EfficientNetB0 &amp; Training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38537"/>
            <a:ext cx="374206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EfficientNetB0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00487"/>
            <a:ext cx="29463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Compound scaling CNN architecture ideal for extracting subtle thermal gradients with low computational overhead.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3538537"/>
            <a:ext cx="374206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Keras Callbacks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375" y="3900487"/>
            <a:ext cx="29463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Leverages EarlyStopping, ReduceLROnPlateau, and ModelCheckpoint to prevent overfitting on 369 training samples.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6825" y="3538537"/>
            <a:ext cx="374206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Stratified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6825" y="3900487"/>
            <a:ext cx="2946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Splits balanced class representations via train_test_split and evaluates per-class Precision, Recall, and F1-score.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0812"/>
            <a:ext cx="5248275" cy="113347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14787"/>
            <a:ext cx="5248275" cy="113347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109787"/>
            <a:ext cx="526732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19312"/>
            <a:ext cx="5248275" cy="3600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947987"/>
            <a:ext cx="1905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271962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EXPLAINABLE AI &amp; ANOMALY LOCALIZATION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Thermal Hotspot Feature Attribution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928937"/>
            <a:ext cx="6263282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Grad-CAM Thermal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205162"/>
            <a:ext cx="48672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Visualizes CNN activation maps to verify model attention on localized thermal anomalies across motor stator and rotor.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252912"/>
            <a:ext cx="6263282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OpenCV Feature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529137"/>
            <a:ext cx="48672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Standardizes raw IR image formats (.bmp, .jpg, .png) and prepares uniform tensor inputs for EfficientNetB0.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38400"/>
            <a:ext cx="10972800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247775"/>
            <a:ext cx="2600325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1247775"/>
            <a:ext cx="2600325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1247775"/>
            <a:ext cx="2600325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1247775"/>
            <a:ext cx="2600325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9625" y="2600325"/>
          <a:ext cx="10572747" cy="14668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25476"/>
                <a:gridCol w="4367956"/>
                <a:gridCol w="1648271"/>
                <a:gridCol w="1931044"/>
              </a:tblGrid>
              <a:tr h="29337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Class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Fault / Condition Description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Image 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A&amp;B50 / A&amp;C&amp;B10 / A&amp;C&amp;B30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Multi-phase Inter-turn Short Circuits (10%-50%)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111 (38 / 31 / 42)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EA580C"/>
                          </a:solidFill>
                          <a:latin typeface="Inter"/>
                        </a:rPr>
                        <a:t>High Thermal Spike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A&amp;C10 / A&amp;C30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Phase-to-Phase Short Faults (10% &amp; 30%)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69 (31 / 38)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EA580C"/>
                          </a:solidFill>
                          <a:latin typeface="Inter"/>
                        </a:rPr>
                        <a:t>Critical Anomaly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A10 / A30 / A50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Single Phase Stator Short Faults (10%, 30%, 50%)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106 (34 / 37 / 35)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Moderate Anomaly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Fan / Noload / Rotor-0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Cooling Fan Fault, Normal No-Load, Rotor Unbalance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83 (28 / 25 / 30)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Classified &amp; Tracked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EVALUATION &amp;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Dataset Distribution &amp; Classification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778" y="1428750"/>
            <a:ext cx="2797968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284C7"/>
                </a:solidFill>
                <a:latin typeface="Inter"/>
              </a:rPr>
              <a:t>369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778" y="1866900"/>
            <a:ext cx="2797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Total IR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1603" y="1428750"/>
            <a:ext cx="2797968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1603" y="1866900"/>
            <a:ext cx="2797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Fault/Operating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2428" y="1428750"/>
            <a:ext cx="2797968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EA580C"/>
                </a:solidFill>
                <a:latin typeface="Inter"/>
              </a:rPr>
              <a:t>98.2%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2428" y="1866900"/>
            <a:ext cx="2797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Model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3253" y="1428750"/>
            <a:ext cx="2797968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8B5CF6"/>
                </a:solidFill>
                <a:latin typeface="Inter"/>
              </a:rPr>
              <a:t>98.0%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3253" y="1866900"/>
            <a:ext cx="2797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Overall F1-Score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41068" y="2060227"/>
            <a:ext cx="2709862" cy="295275"/>
          </a:xfrm>
          <a:prstGeom prst="roundRect">
            <a:avLst>
              <a:gd name="adj" fmla="val 19354"/>
            </a:avLst>
          </a:prstGeom>
          <a:solidFill>
            <a:srgbClr val="0C2D49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71700" y="4245173"/>
            <a:ext cx="2171700" cy="552450"/>
          </a:xfrm>
          <a:prstGeom prst="roundRect">
            <a:avLst>
              <a:gd name="adj" fmla="val 1724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33900" y="4245173"/>
            <a:ext cx="2562225" cy="552450"/>
          </a:xfrm>
          <a:prstGeom prst="roundRect">
            <a:avLst>
              <a:gd name="adj" fmla="val 1724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86625" y="4245173"/>
            <a:ext cx="2733675" cy="552450"/>
          </a:xfrm>
          <a:prstGeom prst="roundRect">
            <a:avLst>
              <a:gd name="adj" fmla="val 1724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5" y="4445198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4445198"/>
            <a:ext cx="1714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50" y="4445198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35685" y="2117377"/>
            <a:ext cx="3120628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Inter"/>
              </a:rPr>
              <a:t>DEPLOYMENT &amp; FUTURE OUTLOOK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591" y="2584102"/>
            <a:ext cx="10538817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Space Grotesk"/>
              </a:rPr>
              <a:t>Automated Thermal Condition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0687" y="3292673"/>
            <a:ext cx="88106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EfficientNetB0 framework trained on 369 thermal images provides real-time, explainable diagnostic intelligence for industrial motor maintenance.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5518" y="4426148"/>
            <a:ext cx="2024062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Inter"/>
              </a:rPr>
              <a:t>Edge Device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8903" y="4426148"/>
            <a:ext cx="2512218" cy="190500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97316"/>
                </a:solidFill>
                <a:latin typeface="Inter"/>
              </a:rPr>
              <a:t>11-Class Early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196" y="4426148"/>
            <a:ext cx="2726531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0B981"/>
                </a:solidFill>
                <a:latin typeface="Inter"/>
              </a:rPr>
              <a:t>Zero Unplanned Downtime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10251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https://ifactoryapp.com/industries/power-plant/manage-post-2k26/uploads/thermal-imaging-infrared-monitoring-electrical-equipment.png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2238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ifactoryapp.com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7584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https://glassboxmedicine.com/wp-content/uploads/2019/06/greater-swiss-mountain-dog.jpeg?w=596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5012"/>
            <a:ext cx="2821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glassboxmedicine.com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